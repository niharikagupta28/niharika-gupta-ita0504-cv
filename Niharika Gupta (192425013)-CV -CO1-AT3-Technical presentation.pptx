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276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29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rgbClr val="13294B">
              <a:alpha val="60000"/>
            </a:srgbClr>
          </a:solidFill>
          <a:ln w="12700">
            <a:solidFill>
              <a:srgbClr val="1BB6A6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1691640"/>
            <a:ext cx="3474720" cy="3474720"/>
          </a:xfrm>
          <a:prstGeom prst="ellipse">
            <a:avLst/>
          </a:prstGeom>
          <a:solidFill>
            <a:srgbClr val="142B4D">
              <a:alpha val="60000"/>
            </a:srgbClr>
          </a:solidFill>
          <a:ln w="12700">
            <a:solidFill>
              <a:srgbClr val="1BB6A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148840"/>
            <a:ext cx="2560320" cy="2560320"/>
          </a:xfrm>
          <a:prstGeom prst="ellipse">
            <a:avLst/>
          </a:prstGeom>
          <a:solidFill>
            <a:srgbClr val="13294B">
              <a:alpha val="60000"/>
            </a:srgbClr>
          </a:solidFill>
          <a:ln w="12700">
            <a:solidFill>
              <a:srgbClr val="1BB6A6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2606040"/>
            <a:ext cx="1645920" cy="1645920"/>
          </a:xfrm>
          <a:prstGeom prst="ellipse">
            <a:avLst/>
          </a:prstGeom>
          <a:solidFill>
            <a:srgbClr val="1BB6A6"/>
          </a:solidFill>
          <a:ln w="12700">
            <a:solidFill>
              <a:srgbClr val="1BB6A6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3108960"/>
            <a:ext cx="640080" cy="64008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b="1" kern="0" spc="200" dirty="0" smtClean="0">
              <a:solidFill>
                <a:srgbClr val="1BB6A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3200" b="1" kern="0" spc="200" dirty="0">
              <a:solidFill>
                <a:srgbClr val="1BB6A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3200" b="1" kern="0" spc="200" dirty="0" smtClean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ITA0504</a:t>
            </a:r>
          </a:p>
          <a:p>
            <a:pPr marL="0" indent="0">
              <a:buNone/>
            </a:pPr>
            <a:r>
              <a:rPr lang="en-US" sz="3200" b="1" kern="0" spc="200" dirty="0" smtClean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</a:t>
            </a:r>
            <a:r>
              <a:rPr lang="en-US" sz="3200" b="1" kern="0" spc="200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vs Digital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 smtClean="0">
              <a:solidFill>
                <a:srgbClr val="EAF0F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800" dirty="0" smtClean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NIHARIKA GUPTA 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(192425013)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1097280" cy="0"/>
          </a:xfrm>
          <a:prstGeom prst="line">
            <a:avLst/>
          </a:prstGeom>
          <a:noFill/>
          <a:ln w="38100">
            <a:solidFill>
              <a:srgbClr val="1BB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Come to See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BB6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5564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acquisition:  </a:t>
            </a:r>
            <a:r>
              <a:rPr lang="en-US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stage of any computer vision pipeline — converting a real-world scene into a form a system can process.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80720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 of methods:  </a:t>
            </a:r>
            <a:r>
              <a:rPr lang="en-US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acquisition (continuous physical signals) and digital acquisition (discretized, numeric pixel data).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BB6A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85876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quality directly bounds every downstream task: filtering, detection, recognition.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349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53492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83280" y="53492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5349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53492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53492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5349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0" y="53492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52560" y="53492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5349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Image Acquisition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intensity is captured and stored as a continuous, unbroken physical signal — no numeric sampling involved.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624328"/>
            <a:ext cx="91440" cy="91440"/>
          </a:xfrm>
          <a:prstGeom prst="ellipse">
            <a:avLst/>
          </a:prstGeom>
          <a:solidFill>
            <a:srgbClr val="1BB6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signal in both space and amplitude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191256"/>
            <a:ext cx="91440" cy="91440"/>
          </a:xfrm>
          <a:prstGeom prst="ellipse">
            <a:avLst/>
          </a:prstGeom>
          <a:solidFill>
            <a:srgbClr val="1BB6A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815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on physical/chemical media (film) or as a varying voltage (video tube)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758184"/>
            <a:ext cx="91440" cy="91440"/>
          </a:xfrm>
          <a:prstGeom prst="ellipse">
            <a:avLst/>
          </a:prstGeom>
          <a:solidFill>
            <a:srgbClr val="1BB6A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4845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pixel grid — infinite theoretical resolution, limited by media grain/optics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325112"/>
            <a:ext cx="91440" cy="91440"/>
          </a:xfrm>
          <a:prstGeom prst="ellipse">
            <a:avLst/>
          </a:prstGeom>
          <a:solidFill>
            <a:srgbClr val="1BB6A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153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with copying, storage and time (fading, noise)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892040"/>
            <a:ext cx="91440" cy="91440"/>
          </a:xfrm>
          <a:prstGeom prst="ellipse">
            <a:avLst/>
          </a:prstGeom>
          <a:solidFill>
            <a:srgbClr val="1BB6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823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digitization (a scanner/frame grabber) before computer processing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185166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142B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5711" y="193024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3474720"/>
            <a:ext cx="110871" cy="127154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14591" y="3601874"/>
            <a:ext cx="110871" cy="114708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25462" y="3716582"/>
            <a:ext cx="110871" cy="91032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36333" y="3807614"/>
            <a:ext cx="110871" cy="58446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7204" y="3866061"/>
            <a:ext cx="110871" cy="20139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8075" y="3886200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68946" y="3866061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79817" y="3807614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0688" y="3716582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1559" y="3601874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2430" y="3474720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23301" y="3347566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34172" y="3232858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5043" y="3141826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5914" y="3083379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66785" y="3063240"/>
            <a:ext cx="110871" cy="20139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77656" y="3083379"/>
            <a:ext cx="110871" cy="58446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88527" y="3141826"/>
            <a:ext cx="110871" cy="91032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99398" y="3232858"/>
            <a:ext cx="110871" cy="114708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269" y="3347566"/>
            <a:ext cx="110871" cy="127154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21140" y="3474720"/>
            <a:ext cx="110871" cy="127154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32011" y="3601874"/>
            <a:ext cx="110871" cy="114708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42882" y="3716582"/>
            <a:ext cx="110871" cy="91032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53753" y="3807614"/>
            <a:ext cx="110871" cy="58446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64624" y="3866061"/>
            <a:ext cx="110871" cy="20139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75495" y="3886200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86366" y="3866061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97237" y="3807614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08108" y="3716582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18979" y="3601874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29850" y="3474720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40721" y="3347566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51592" y="3232858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62463" y="3141826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73334" y="3083379"/>
            <a:ext cx="110871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84205" y="3063240"/>
            <a:ext cx="110871" cy="20139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895076" y="3083379"/>
            <a:ext cx="110871" cy="58446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005947" y="3141826"/>
            <a:ext cx="110871" cy="91032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116818" y="3232858"/>
            <a:ext cx="110871" cy="114708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227689" y="3347566"/>
            <a:ext cx="110871" cy="127154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4160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voltage / intensity — smooth, unbroken curve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58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03720" y="5120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35mm film cameras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903720" y="5413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Vidicon TV camera tubes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903720" y="5705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X-ray film radiography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6903720" y="59984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Analog CCTV / VCR tape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Acquisition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scene is sampled at discrete spatial points and quantized to finite intensity levels, producing a numeric pixel array.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624328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signal — sampled in space, quantized in amplitude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191256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815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directly by CCD / CMOS image sensors as electronic charge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758184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4845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pixel grid: resolution defined by sensor array (e.g., 4000 × 3000)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325112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153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Losslessly copyable and directly processable by algorithms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892040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823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storage, compression, transmission and computer vision tasks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43235" y="1851074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0B1F3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5317" y="1846385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2103120"/>
            <a:ext cx="365760" cy="365760"/>
          </a:xfrm>
          <a:prstGeom prst="rect">
            <a:avLst/>
          </a:prstGeom>
          <a:solidFill>
            <a:srgbClr val="1BB6A6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0648" y="2103120"/>
            <a:ext cx="365760" cy="365760"/>
          </a:xfrm>
          <a:prstGeom prst="rect">
            <a:avLst/>
          </a:prstGeom>
          <a:solidFill>
            <a:srgbClr val="2E8C82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54696" y="2103120"/>
            <a:ext cx="365760" cy="365760"/>
          </a:xfrm>
          <a:prstGeom prst="rect">
            <a:avLst/>
          </a:prstGeom>
          <a:solidFill>
            <a:srgbClr val="0F5A54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8744" y="2103120"/>
            <a:ext cx="365760" cy="365760"/>
          </a:xfrm>
          <a:prstGeom prst="rect">
            <a:avLst/>
          </a:prstGeom>
          <a:solidFill>
            <a:srgbClr val="E8604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2792" y="2103120"/>
            <a:ext cx="365760" cy="365760"/>
          </a:xfrm>
          <a:prstGeom prst="rect">
            <a:avLst/>
          </a:prstGeom>
          <a:solidFill>
            <a:srgbClr val="B84537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103120"/>
            <a:ext cx="365760" cy="365760"/>
          </a:xfrm>
          <a:prstGeom prst="rect">
            <a:avLst/>
          </a:prstGeom>
          <a:solidFill>
            <a:srgbClr val="F2A93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90888" y="2103120"/>
            <a:ext cx="365760" cy="365760"/>
          </a:xfrm>
          <a:prstGeom prst="rect">
            <a:avLst/>
          </a:prstGeom>
          <a:solidFill>
            <a:srgbClr val="C98529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74936" y="2103120"/>
            <a:ext cx="365760" cy="365760"/>
          </a:xfrm>
          <a:prstGeom prst="rect">
            <a:avLst/>
          </a:prstGeom>
          <a:solidFill>
            <a:srgbClr val="142B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487168"/>
            <a:ext cx="365760" cy="365760"/>
          </a:xfrm>
          <a:prstGeom prst="rect">
            <a:avLst/>
          </a:prstGeom>
          <a:solidFill>
            <a:srgbClr val="2E8C82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0648" y="2487168"/>
            <a:ext cx="365760" cy="365760"/>
          </a:xfrm>
          <a:prstGeom prst="rect">
            <a:avLst/>
          </a:prstGeom>
          <a:solidFill>
            <a:srgbClr val="0F5A54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4696" y="2487168"/>
            <a:ext cx="365760" cy="365760"/>
          </a:xfrm>
          <a:prstGeom prst="rect">
            <a:avLst/>
          </a:prstGeom>
          <a:solidFill>
            <a:srgbClr val="E8604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38744" y="2487168"/>
            <a:ext cx="365760" cy="365760"/>
          </a:xfrm>
          <a:prstGeom prst="rect">
            <a:avLst/>
          </a:prstGeom>
          <a:solidFill>
            <a:srgbClr val="B84537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22792" y="2487168"/>
            <a:ext cx="365760" cy="365760"/>
          </a:xfrm>
          <a:prstGeom prst="rect">
            <a:avLst/>
          </a:prstGeom>
          <a:solidFill>
            <a:srgbClr val="F2A93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0" y="2487168"/>
            <a:ext cx="365760" cy="365760"/>
          </a:xfrm>
          <a:prstGeom prst="rect">
            <a:avLst/>
          </a:prstGeom>
          <a:solidFill>
            <a:srgbClr val="C98529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90888" y="2487168"/>
            <a:ext cx="365760" cy="365760"/>
          </a:xfrm>
          <a:prstGeom prst="rect">
            <a:avLst/>
          </a:prstGeom>
          <a:solidFill>
            <a:srgbClr val="142B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74936" y="2487168"/>
            <a:ext cx="365760" cy="365760"/>
          </a:xfrm>
          <a:prstGeom prst="rect">
            <a:avLst/>
          </a:prstGeom>
          <a:solidFill>
            <a:srgbClr val="1BB6A6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2871216"/>
            <a:ext cx="365760" cy="365760"/>
          </a:xfrm>
          <a:prstGeom prst="rect">
            <a:avLst/>
          </a:prstGeom>
          <a:solidFill>
            <a:srgbClr val="0F5A54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70648" y="2871216"/>
            <a:ext cx="365760" cy="365760"/>
          </a:xfrm>
          <a:prstGeom prst="rect">
            <a:avLst/>
          </a:prstGeom>
          <a:solidFill>
            <a:srgbClr val="E8604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54696" y="2871216"/>
            <a:ext cx="365760" cy="365760"/>
          </a:xfrm>
          <a:prstGeom prst="rect">
            <a:avLst/>
          </a:prstGeom>
          <a:solidFill>
            <a:srgbClr val="B84537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38744" y="2871216"/>
            <a:ext cx="365760" cy="365760"/>
          </a:xfrm>
          <a:prstGeom prst="rect">
            <a:avLst/>
          </a:prstGeom>
          <a:solidFill>
            <a:srgbClr val="F2A93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22792" y="2871216"/>
            <a:ext cx="365760" cy="365760"/>
          </a:xfrm>
          <a:prstGeom prst="rect">
            <a:avLst/>
          </a:prstGeom>
          <a:solidFill>
            <a:srgbClr val="C98529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06840" y="2871216"/>
            <a:ext cx="365760" cy="365760"/>
          </a:xfrm>
          <a:prstGeom prst="rect">
            <a:avLst/>
          </a:prstGeom>
          <a:solidFill>
            <a:srgbClr val="142B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90888" y="2871216"/>
            <a:ext cx="365760" cy="365760"/>
          </a:xfrm>
          <a:prstGeom prst="rect">
            <a:avLst/>
          </a:prstGeom>
          <a:solidFill>
            <a:srgbClr val="1BB6A6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74936" y="2871216"/>
            <a:ext cx="365760" cy="365760"/>
          </a:xfrm>
          <a:prstGeom prst="rect">
            <a:avLst/>
          </a:prstGeom>
          <a:solidFill>
            <a:srgbClr val="2E8C82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6600" y="3255264"/>
            <a:ext cx="365760" cy="365760"/>
          </a:xfrm>
          <a:prstGeom prst="rect">
            <a:avLst/>
          </a:prstGeom>
          <a:solidFill>
            <a:srgbClr val="E8604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70648" y="3255264"/>
            <a:ext cx="365760" cy="365760"/>
          </a:xfrm>
          <a:prstGeom prst="rect">
            <a:avLst/>
          </a:prstGeom>
          <a:solidFill>
            <a:srgbClr val="B84537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54696" y="3255264"/>
            <a:ext cx="365760" cy="365760"/>
          </a:xfrm>
          <a:prstGeom prst="rect">
            <a:avLst/>
          </a:prstGeom>
          <a:solidFill>
            <a:srgbClr val="F2A93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38744" y="3255264"/>
            <a:ext cx="365760" cy="365760"/>
          </a:xfrm>
          <a:prstGeom prst="rect">
            <a:avLst/>
          </a:prstGeom>
          <a:solidFill>
            <a:srgbClr val="C98529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22792" y="3255264"/>
            <a:ext cx="365760" cy="365760"/>
          </a:xfrm>
          <a:prstGeom prst="rect">
            <a:avLst/>
          </a:prstGeom>
          <a:solidFill>
            <a:srgbClr val="142B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06840" y="3255264"/>
            <a:ext cx="365760" cy="365760"/>
          </a:xfrm>
          <a:prstGeom prst="rect">
            <a:avLst/>
          </a:prstGeom>
          <a:solidFill>
            <a:srgbClr val="1BB6A6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90888" y="3255264"/>
            <a:ext cx="365760" cy="365760"/>
          </a:xfrm>
          <a:prstGeom prst="rect">
            <a:avLst/>
          </a:prstGeom>
          <a:solidFill>
            <a:srgbClr val="2E8C82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74936" y="3255264"/>
            <a:ext cx="365760" cy="365760"/>
          </a:xfrm>
          <a:prstGeom prst="rect">
            <a:avLst/>
          </a:prstGeom>
          <a:solidFill>
            <a:srgbClr val="0F5A54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86600" y="3639312"/>
            <a:ext cx="365760" cy="365760"/>
          </a:xfrm>
          <a:prstGeom prst="rect">
            <a:avLst/>
          </a:prstGeom>
          <a:solidFill>
            <a:srgbClr val="B84537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70648" y="3639312"/>
            <a:ext cx="365760" cy="365760"/>
          </a:xfrm>
          <a:prstGeom prst="rect">
            <a:avLst/>
          </a:prstGeom>
          <a:solidFill>
            <a:srgbClr val="F2A93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54696" y="3639312"/>
            <a:ext cx="365760" cy="365760"/>
          </a:xfrm>
          <a:prstGeom prst="rect">
            <a:avLst/>
          </a:prstGeom>
          <a:solidFill>
            <a:srgbClr val="C98529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38744" y="3639312"/>
            <a:ext cx="365760" cy="365760"/>
          </a:xfrm>
          <a:prstGeom prst="rect">
            <a:avLst/>
          </a:prstGeom>
          <a:solidFill>
            <a:srgbClr val="142B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22792" y="3639312"/>
            <a:ext cx="365760" cy="365760"/>
          </a:xfrm>
          <a:prstGeom prst="rect">
            <a:avLst/>
          </a:prstGeom>
          <a:solidFill>
            <a:srgbClr val="1BB6A6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06840" y="3639312"/>
            <a:ext cx="365760" cy="365760"/>
          </a:xfrm>
          <a:prstGeom prst="rect">
            <a:avLst/>
          </a:prstGeom>
          <a:solidFill>
            <a:srgbClr val="2E8C82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90888" y="3639312"/>
            <a:ext cx="365760" cy="365760"/>
          </a:xfrm>
          <a:prstGeom prst="rect">
            <a:avLst/>
          </a:prstGeom>
          <a:solidFill>
            <a:srgbClr val="0F5A54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774936" y="3639312"/>
            <a:ext cx="365760" cy="365760"/>
          </a:xfrm>
          <a:prstGeom prst="rect">
            <a:avLst/>
          </a:prstGeom>
          <a:solidFill>
            <a:srgbClr val="E8604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4160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grid of pixels — each with its own numeric value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58000" y="4892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03720" y="5212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DSLR / smartphone cameras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903720" y="5504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CCD &amp; CMOS sensor arrays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903720" y="57972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Digital X-ray &amp; MRI scanners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6903720" y="60899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Webcams and IP cameras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DIGITIZATION BRIDGE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Continuous Scene to Digital Image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5044" y="2194560"/>
            <a:ext cx="640080" cy="640080"/>
          </a:xfrm>
          <a:prstGeom prst="ellipse">
            <a:avLst/>
          </a:prstGeom>
          <a:solidFill>
            <a:srgbClr val="1BB6A6"/>
          </a:solidFill>
          <a:ln/>
        </p:spPr>
      </p:sp>
      <p:sp>
        <p:nvSpPr>
          <p:cNvPr id="6" name="Text 4"/>
          <p:cNvSpPr/>
          <p:nvPr/>
        </p:nvSpPr>
        <p:spPr>
          <a:xfrm>
            <a:off x="149504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07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sensor (CCD/CMOS) converts incoming light into an analog electrical signal proportional to intensity.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81528" y="1920240"/>
            <a:ext cx="320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01568" y="192024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7972" y="219456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34797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4448" y="297180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0168" y="3474720"/>
            <a:ext cx="207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continuous signal is measured at discrete spatial locations — fixing image resolution (rows × columns).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34456" y="1920240"/>
            <a:ext cx="320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54496" y="192024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00900" y="2194560"/>
            <a:ext cx="640080" cy="64008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37376" y="297180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096" y="3474720"/>
            <a:ext cx="207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sample's amplitude is mapped to the nearest of a finite set of intensity levels (e.g., 0–255).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87384" y="1920240"/>
            <a:ext cx="320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07424" y="192024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0B1F3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3828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382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90304" y="297180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6024" y="3474720"/>
            <a:ext cx="207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2-D array of integers — the digital image, ready for storage and processing.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vs Digital —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926080" cy="566928"/>
          </a:xfrm>
          <a:prstGeom prst="rect">
            <a:avLst/>
          </a:prstGeom>
          <a:solidFill>
            <a:srgbClr val="1BB6A6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74720" y="1508760"/>
            <a:ext cx="4078224" cy="566928"/>
          </a:xfrm>
          <a:prstGeom prst="rect">
            <a:avLst/>
          </a:prstGeom>
          <a:solidFill>
            <a:srgbClr val="1BB6A6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508760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Acquisition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52944" y="1508760"/>
            <a:ext cx="4087368" cy="566928"/>
          </a:xfrm>
          <a:prstGeom prst="rect">
            <a:avLst/>
          </a:prstGeom>
          <a:solidFill>
            <a:srgbClr val="1BB6A6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0104" y="1508760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Acquisition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2926080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756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type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74720" y="2075688"/>
            <a:ext cx="4078224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075688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 space &amp; amplitude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52944" y="2075688"/>
            <a:ext cx="4087368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0104" y="2075688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(sampled &amp; quantized)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642616"/>
            <a:ext cx="2926080" cy="566928"/>
          </a:xfrm>
          <a:prstGeom prst="rect">
            <a:avLst/>
          </a:prstGeom>
          <a:solidFill>
            <a:srgbClr val="142B4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426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medium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74720" y="2642616"/>
            <a:ext cx="4078224" cy="566928"/>
          </a:xfrm>
          <a:prstGeom prst="rect">
            <a:avLst/>
          </a:prstGeom>
          <a:solidFill>
            <a:srgbClr val="142B4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642616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magnetic tape, photographic plate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52944" y="2642616"/>
            <a:ext cx="4087368" cy="566928"/>
          </a:xfrm>
          <a:prstGeom prst="rect">
            <a:avLst/>
          </a:prstGeom>
          <a:solidFill>
            <a:srgbClr val="142B4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0104" y="2642616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chips, SSD, cloud storage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209544"/>
            <a:ext cx="2926080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095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limit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74720" y="3209544"/>
            <a:ext cx="4078224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3209544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by optics / film grain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52944" y="3209544"/>
            <a:ext cx="4087368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3209544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by sensor pixel count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776472"/>
            <a:ext cx="2926080" cy="566928"/>
          </a:xfrm>
          <a:prstGeom prst="rect">
            <a:avLst/>
          </a:prstGeom>
          <a:solidFill>
            <a:srgbClr val="142B4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764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over copies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74720" y="3776472"/>
            <a:ext cx="4078224" cy="566928"/>
          </a:xfrm>
          <a:prstGeom prst="rect">
            <a:avLst/>
          </a:prstGeom>
          <a:solidFill>
            <a:srgbClr val="142B4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776472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with each generation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52944" y="3776472"/>
            <a:ext cx="4087368" cy="566928"/>
          </a:xfrm>
          <a:prstGeom prst="rect">
            <a:avLst/>
          </a:prstGeom>
          <a:solidFill>
            <a:srgbClr val="142B4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776472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degradation on copying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2926080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343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474720" y="4343400"/>
            <a:ext cx="4078224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4343400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scanner/digitizer first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552944" y="4343400"/>
            <a:ext cx="4087368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0104" y="4343400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computer-processable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4910328"/>
            <a:ext cx="2926080" cy="566928"/>
          </a:xfrm>
          <a:prstGeom prst="rect">
            <a:avLst/>
          </a:prstGeom>
          <a:solidFill>
            <a:srgbClr val="142B4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9103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/ transmission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474720" y="4910328"/>
            <a:ext cx="4078224" cy="566928"/>
          </a:xfrm>
          <a:prstGeom prst="rect">
            <a:avLst/>
          </a:prstGeom>
          <a:solidFill>
            <a:srgbClr val="142B4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4910328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Difficult, physical handling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552944" y="4910328"/>
            <a:ext cx="4087368" cy="566928"/>
          </a:xfrm>
          <a:prstGeom prst="rect">
            <a:avLst/>
          </a:prstGeom>
          <a:solidFill>
            <a:srgbClr val="142B4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0104" y="4910328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algorithmic, networked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48640" y="5477256"/>
            <a:ext cx="2926080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4772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devices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474720" y="5477256"/>
            <a:ext cx="4078224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1880" y="5477256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camera, vidicon tube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552944" y="5477256"/>
            <a:ext cx="4087368" cy="566928"/>
          </a:xfrm>
          <a:prstGeom prst="rect">
            <a:avLst/>
          </a:prstGeom>
          <a:solidFill>
            <a:srgbClr val="13294B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0104" y="5477256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DSLR, smartphone, CMOS sensor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Photographing the Same Scene, Two 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PATH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6576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2860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light exposes silver-halide crystals on 35mm film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6576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3154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image formed as a continuous chemical gradient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6576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40233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is chemically developed in a darkroom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36576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48920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onto photographic paper or scanned to view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0B1F3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365760" cy="365760"/>
          </a:xfrm>
          <a:prstGeom prst="rect">
            <a:avLst/>
          </a:prstGeom>
          <a:solidFill>
            <a:srgbClr val="1BB6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22860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light hits a CMOS sensor's photosite array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365760" cy="365760"/>
          </a:xfrm>
          <a:prstGeom prst="rect">
            <a:avLst/>
          </a:prstGeom>
          <a:solidFill>
            <a:srgbClr val="1BB6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154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photosite outputs a voltage proportional to light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4069080"/>
            <a:ext cx="365760" cy="365760"/>
          </a:xfrm>
          <a:prstGeom prst="rect">
            <a:avLst/>
          </a:prstGeom>
          <a:solidFill>
            <a:srgbClr val="1BB6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40233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ADC samples &amp; quantizes into pixel values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937760"/>
            <a:ext cx="365760" cy="365760"/>
          </a:xfrm>
          <a:prstGeom prst="rect">
            <a:avLst/>
          </a:prstGeom>
          <a:solidFill>
            <a:srgbClr val="1BB6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48920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instantly as a JPEG/RAW file for viewing/editing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49631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5000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optics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complex electronics needed to capture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32095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632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dynamic range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can capture wide light ranges naturally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92277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764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over time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fading, scratches, generation loss on copies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" y="463600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48970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workflow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&amp; digitizing needed before use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" y="534924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20293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machine-readable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directly processed by algorithms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783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64808" y="2496312"/>
            <a:ext cx="109728" cy="109728"/>
          </a:xfrm>
          <a:prstGeom prst="ellipse">
            <a:avLst/>
          </a:prstGeom>
          <a:solidFill>
            <a:srgbClr val="0F5A54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35000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processing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usable in computer vision pipelines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64808" y="3209544"/>
            <a:ext cx="109728" cy="109728"/>
          </a:xfrm>
          <a:prstGeom prst="ellipse">
            <a:avLst/>
          </a:prstGeom>
          <a:solidFill>
            <a:srgbClr val="0F5A54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0632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copies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loss on duplication or transmission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64808" y="3922776"/>
            <a:ext cx="109728" cy="109728"/>
          </a:xfrm>
          <a:prstGeom prst="ellipse">
            <a:avLst/>
          </a:prstGeom>
          <a:solidFill>
            <a:srgbClr val="0F5A54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7764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storage &amp; search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files, searchable metadata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64808" y="4636008"/>
            <a:ext cx="109728" cy="109728"/>
          </a:xfrm>
          <a:prstGeom prst="ellipse">
            <a:avLst/>
          </a:prstGeom>
          <a:solidFill>
            <a:srgbClr val="0F5A54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48970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resolution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sensor pixel count &amp; bit depth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64808" y="5349240"/>
            <a:ext cx="109728" cy="109728"/>
          </a:xfrm>
          <a:prstGeom prst="ellipse">
            <a:avLst/>
          </a:prstGeom>
          <a:solidFill>
            <a:srgbClr val="0F5A54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520293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 — </a:t>
            </a:r>
            <a:r>
              <a:rPr lang="en-US" sz="16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&amp; thermal noise at low light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Digital Acquisition Powers Computer Vision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142B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BB6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9631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86207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X-ray, CT &amp; MRI enable direct algorithmic diagnosis support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142B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114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249631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81144" y="286207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camera arrays feed real-time object &amp; lane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142B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5048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48" y="249631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&amp; Security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85048" y="286207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cameras stream digital frames for face &amp; motion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142B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BB6A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079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Inspection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8737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 sensors detect defects on production lines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52544" y="3703320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142B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45079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81144" y="48737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digital sensors capture multispectral earth imagery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6448" y="3703320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142B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5048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604C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45079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Photography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85048" y="48737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CMOS sensors enable computational photography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B6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acquisition captures continuous signals on physical media; digital acquisition samples and quantizes into a numeric pixel array.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743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 (sampling + quantization) is the essential bridge that makes any scene usable by a computer vision system.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794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acquisition dominates modern computer vision — direct processability, lossless copying, and networked transmission are decisive advantages.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8463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methods persist where their unique optical properties (dynamic range, archival texture) are still valued.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097280" cy="0"/>
          </a:xfrm>
          <a:prstGeom prst="line">
            <a:avLst/>
          </a:prstGeom>
          <a:noFill/>
          <a:ln w="38100">
            <a:solidFill>
              <a:srgbClr val="1BB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870</Words>
  <Application>Microsoft Office PowerPoint</Application>
  <PresentationFormat>Widescreen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 User</cp:lastModifiedBy>
  <cp:revision>2</cp:revision>
  <dcterms:created xsi:type="dcterms:W3CDTF">2026-07-16T04:30:18Z</dcterms:created>
  <dcterms:modified xsi:type="dcterms:W3CDTF">2026-07-16T04:42:32Z</dcterms:modified>
</cp:coreProperties>
</file>